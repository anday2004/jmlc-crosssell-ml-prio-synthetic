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7ec25b9001d4037" Type="http://schemas.openxmlformats.org/officeDocument/2006/relationships/officeDocument" Target="ppt/presentation.xml"/><Relationship Id="Ra7c965a89329423e" Type="http://schemas.openxmlformats.org/officeDocument/2006/relationships/extended-properties" Target="docProps/app.xml"/><Relationship Id="Rb85d2950c1144c3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b7d03608bc4db0"/>
  </p:sldMasterIdLst>
  <p:notesMasterIdLst>
    <p:notesMasterId xmlns:r="http://schemas.openxmlformats.org/officeDocument/2006/relationships" r:id="R587259abae694cf0"/>
  </p:notesMasterIdLst>
  <p:sldIdLst>
    <p:sldId xmlns:r="http://schemas.openxmlformats.org/officeDocument/2006/relationships" id="256" r:id="R55edca03133b43c5"/>
    <p:sldId xmlns:r="http://schemas.openxmlformats.org/officeDocument/2006/relationships" id="257" r:id="R24bf6f9552114ce4"/>
    <p:sldId xmlns:r="http://schemas.openxmlformats.org/officeDocument/2006/relationships" id="258" r:id="R93af2a75c2494b4c"/>
    <p:sldId xmlns:r="http://schemas.openxmlformats.org/officeDocument/2006/relationships" id="259" r:id="R7a9f8e3ae7be4e45"/>
    <p:sldId xmlns:r="http://schemas.openxmlformats.org/officeDocument/2006/relationships" id="260" r:id="Rd611895f26fa48d9"/>
    <p:sldId xmlns:r="http://schemas.openxmlformats.org/officeDocument/2006/relationships" id="261" r:id="Rd3043b2b0cd94610"/>
    <p:sldId xmlns:r="http://schemas.openxmlformats.org/officeDocument/2006/relationships" id="262" r:id="Rf86884792f584e4c"/>
    <p:sldId xmlns:r="http://schemas.openxmlformats.org/officeDocument/2006/relationships" id="263" r:id="R8eb7c5f1c7e34922"/>
    <p:sldId xmlns:r="http://schemas.openxmlformats.org/officeDocument/2006/relationships" id="264" r:id="Rff2746315bf64e84"/>
    <p:sldId xmlns:r="http://schemas.openxmlformats.org/officeDocument/2006/relationships" id="265" r:id="R5b6d970aab5048d8"/>
    <p:sldId xmlns:r="http://schemas.openxmlformats.org/officeDocument/2006/relationships" id="266" r:id="Rac3a24faffff4f8e"/>
    <p:sldId xmlns:r="http://schemas.openxmlformats.org/officeDocument/2006/relationships" id="267" r:id="Rfcaa910494694bd7"/>
    <p:sldId xmlns:r="http://schemas.openxmlformats.org/officeDocument/2006/relationships" id="268" r:id="Re0f2e47c3869405f"/>
    <p:sldId xmlns:r="http://schemas.openxmlformats.org/officeDocument/2006/relationships" id="269" r:id="Rcb165c94228c450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5b7d03608bc4db0" Type="http://schemas.openxmlformats.org/officeDocument/2006/relationships/slideMaster" Target="slideMasters/slideMaster1.xml"/><Relationship Id="R24bf6f9552114ce4" Type="http://schemas.openxmlformats.org/officeDocument/2006/relationships/slide" Target="slides/slide2.xml"/><Relationship Id="R277bd952943043fb" Type="http://schemas.openxmlformats.org/officeDocument/2006/relationships/presProps" Target="presProps.xml"/><Relationship Id="R55edca03133b43c5" Type="http://schemas.openxmlformats.org/officeDocument/2006/relationships/slide" Target="slides/slide1.xml"/><Relationship Id="R587259abae694cf0" Type="http://schemas.openxmlformats.org/officeDocument/2006/relationships/notesMaster" Target="notesMasters/notesMaster1.xml"/><Relationship Id="R5b6d970aab5048d8" Type="http://schemas.openxmlformats.org/officeDocument/2006/relationships/slide" Target="slides/slide10.xml"/><Relationship Id="R7a9f8e3ae7be4e45" Type="http://schemas.openxmlformats.org/officeDocument/2006/relationships/slide" Target="slides/slide4.xml"/><Relationship Id="R887507db6c394f5a" Type="http://schemas.openxmlformats.org/officeDocument/2006/relationships/theme" Target="theme/theme1.xml"/><Relationship Id="R8eb7c5f1c7e34922" Type="http://schemas.openxmlformats.org/officeDocument/2006/relationships/slide" Target="slides/slide8.xml"/><Relationship Id="R93af2a75c2494b4c" Type="http://schemas.openxmlformats.org/officeDocument/2006/relationships/slide" Target="slides/slide3.xml"/><Relationship Id="Rac3a24faffff4f8e" Type="http://schemas.openxmlformats.org/officeDocument/2006/relationships/slide" Target="slides/slide11.xml"/><Relationship Id="Rcb165c94228c4508" Type="http://schemas.openxmlformats.org/officeDocument/2006/relationships/slide" Target="slides/slide14.xml"/><Relationship Id="Rd3043b2b0cd94610" Type="http://schemas.openxmlformats.org/officeDocument/2006/relationships/slide" Target="slides/slide6.xml"/><Relationship Id="Rd611895f26fa48d9" Type="http://schemas.openxmlformats.org/officeDocument/2006/relationships/slide" Target="slides/slide5.xml"/><Relationship Id="Rdc6e0c9664454794" Type="http://schemas.openxmlformats.org/officeDocument/2006/relationships/tableStyles" Target="tableStyles.xml"/><Relationship Id="Re0f2e47c3869405f" Type="http://schemas.openxmlformats.org/officeDocument/2006/relationships/slide" Target="slides/slide13.xml"/><Relationship Id="Rf86884792f584e4c" Type="http://schemas.openxmlformats.org/officeDocument/2006/relationships/slide" Target="slides/slide7.xml"/><Relationship Id="Rfcaa910494694bd7" Type="http://schemas.openxmlformats.org/officeDocument/2006/relationships/slide" Target="slides/slide12.xml"/><Relationship Id="Rff2746315bf64e84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2ebf4789ad34437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2f6abe0308d43a5" Type="http://schemas.openxmlformats.org/officeDocument/2006/relationships/notesMaster" Target="../notesMasters/notesMaster1.xml"/><Relationship Id="Rffa33d9151d24105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9de818c54223419d" Type="http://schemas.openxmlformats.org/officeDocument/2006/relationships/notesMaster" Target="../notesMasters/notesMaster1.xml"/><Relationship Id="Rba4a47ff1df54e17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0bf33dac23924946" Type="http://schemas.openxmlformats.org/officeDocument/2006/relationships/notesMaster" Target="../notesMasters/notesMaster1.xml"/><Relationship Id="R1f247223403b456a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84b1b495b30f4051" Type="http://schemas.openxmlformats.org/officeDocument/2006/relationships/slide" Target="../slides/slide4.xml"/><Relationship Id="R9e0c19aa9de34055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0a71fdf1b1374169" Type="http://schemas.openxmlformats.org/officeDocument/2006/relationships/slide" Target="../slides/slide5.xml"/><Relationship Id="R87360e6f64f54846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74d1bb14943e45ca" Type="http://schemas.openxmlformats.org/officeDocument/2006/relationships/notesMaster" Target="../notesMasters/notesMaster1.xml"/><Relationship Id="Rbf756ba33b06481c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059b2405ba7f46d3" Type="http://schemas.openxmlformats.org/officeDocument/2006/relationships/slide" Target="../slides/slide7.xml"/><Relationship Id="R1abae883b29844d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94c822334c7a4d1d" Type="http://schemas.openxmlformats.org/officeDocument/2006/relationships/notesMaster" Target="../notesMasters/notesMaster1.xml"/><Relationship Id="Reb8f03bf25c345e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5974aa2b8a9417f" Type="http://schemas.openxmlformats.org/officeDocument/2006/relationships/notesMaster" Target="../notesMasters/notesMaster1.xml"/><Relationship Id="R429c751709ab4bdb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2503b100724a4d75" Type="http://schemas.openxmlformats.org/officeDocument/2006/relationships/notesMaster" Target="../notesMasters/notesMaster1.xml"/><Relationship Id="R9e48b7c284614bdc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a14e35a59c0d4682" Type="http://schemas.openxmlformats.org/officeDocument/2006/relationships/notesMaster" Target="../notesMasters/notesMaster1.xml"/><Relationship Id="Rc9eb422486654c3d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157f594be2b44f98" Type="http://schemas.openxmlformats.org/officeDocument/2006/relationships/slide" Target="../slides/slide12.xml"/><Relationship Id="Rbf2ec73731ac4569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479699d8fcd146f8" Type="http://schemas.openxmlformats.org/officeDocument/2006/relationships/notesMaster" Target="../notesMasters/notesMaster1.xml"/><Relationship Id="R7f1a01883d6f4306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683db6a3b55f4837" Type="http://schemas.openxmlformats.org/officeDocument/2006/relationships/notesMaster" Target="../notesMasters/notesMaster1.xml"/><Relationship Id="R6e17f70700724955" Type="http://schemas.openxmlformats.org/officeDocument/2006/relationships/slide" Target="../slides/slide14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7779b80aeb347ab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466b95af4dc44dc" Type="http://schemas.openxmlformats.org/officeDocument/2006/relationships/theme" Target="theme/theme2.xml"/><Relationship Id="Rd8867f755a104ca3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867f755a104c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b2e5180eb81745ad" Type="http://schemas.openxmlformats.org/officeDocument/2006/relationships/slideLayout" Target="../slideLayouts/slideLayout1.xml"/><Relationship Id="Rc8fb887277a3468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7410786ef88f412c" Type="http://schemas.openxmlformats.org/officeDocument/2006/relationships/notesSlide" Target="../notesSlides/notesSlide2.xml"/><Relationship Id="Reb5dcb832cb84566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d391c78e1e574c56" Type="http://schemas.openxmlformats.org/officeDocument/2006/relationships/notesSlide" Target="../notesSlides/notesSlide3.xml"/><Relationship Id="Re2805ff845ac45b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507d80d65b1344d1" Type="http://schemas.openxmlformats.org/officeDocument/2006/relationships/slideLayout" Target="../slideLayouts/slideLayout1.xml"/><Relationship Id="Rcd297c6f1d13486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2c35d577489545e0" Type="http://schemas.openxmlformats.org/officeDocument/2006/relationships/notesSlide" Target="../notesSlides/notesSlide5.xml"/><Relationship Id="Rf201a52e670b458d" Type="http://schemas.openxmlformats.org/officeDocument/2006/relationships/slideLayout" Target="../slideLayouts/slideLayout1.xml"/><Relationship Id="rId3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6b2044b6357a4010" Type="http://schemas.openxmlformats.org/officeDocument/2006/relationships/slideLayout" Target="../slideLayouts/slideLayout1.xml"/><Relationship Id="Rd5eb3ae68e45477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27961be8883f4018" Type="http://schemas.openxmlformats.org/officeDocument/2006/relationships/slideLayout" Target="../slideLayouts/slideLayout1.xml"/><Relationship Id="R94bf89d9788b424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1e73809bdef64b22" Type="http://schemas.openxmlformats.org/officeDocument/2006/relationships/slideLayout" Target="../slideLayouts/slideLayout1.xml"/><Relationship Id="Rbc38e61d056f410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3f9539813ce74dca" Type="http://schemas.openxmlformats.org/officeDocument/2006/relationships/notesSlide" Target="../notesSlides/notesSlide9.xml"/><Relationship Id="Ra695cb1f78c54de8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3699d5fa89dd451c" Type="http://schemas.openxmlformats.org/officeDocument/2006/relationships/slideLayout" Target="../slideLayouts/slideLayout1.xml"/><Relationship Id="Re8c31c58962e42b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4b3be989d0074b23" Type="http://schemas.openxmlformats.org/officeDocument/2006/relationships/notesSlide" Target="../notesSlides/notesSlide11.xml"/><Relationship Id="R67d92a0c24984d37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060accc58f094810" Type="http://schemas.openxmlformats.org/officeDocument/2006/relationships/notesSlide" Target="../notesSlides/notesSlide12.xml"/><Relationship Id="R1a539122fab94535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Relationship Id="rId9" Type="http://schemas.openxmlformats.org/officeDocument/2006/relationships/image" Target="../media/image18.png"/><Relationship Id="rId10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16246a91f91e4304" Type="http://schemas.openxmlformats.org/officeDocument/2006/relationships/slideLayout" Target="../slideLayouts/slideLayout1.xml"/><Relationship Id="R251b15d075324175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5.png"/><Relationship Id="rId9" Type="http://schemas.openxmlformats.org/officeDocument/2006/relationships/image" Target="../media/image17.png"/><Relationship Id="rId10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9ee6b247216d4ef1" Type="http://schemas.openxmlformats.org/officeDocument/2006/relationships/slideLayout" Target="../slideLayouts/slideLayout1.xml"/><Relationship Id="Rc0eada545c174f16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EF3F82-399C-4D63-8667-25450199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1329"/>
          </a:solidFill>
          <a:ln xmlns:a="http://schemas.openxmlformats.org/drawingml/2006/main" w="0">
            <a:solidFill>
              <a:srgbClr val="A3132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8611A-4C31-40B8-9303-560139DB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9DE"/>
          </a:solidFill>
          <a:ln xmlns:a="http://schemas.openxmlformats.org/drawingml/2006/main" w="0">
            <a:solidFill>
              <a:srgbClr val="F2D9DE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31329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A31329"/>
                </a:solidFill>
                <a:latin typeface="Calibri"/>
                <a:ea typeface="Calibri"/>
                <a:cs typeface="Calibri"/>
              </a:rPr>
              <a:t>Junior ML Contest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37224-A27D-44DE-AD64-C58928F3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8001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71A20"/>
                </a:solidFill>
                <a:latin typeface="Calibri"/>
                <a:ea typeface="Calibri"/>
                <a:cs typeface="Calibri"/>
              </a:defRPr>
            </a:pPr>
            <a:r>
              <a:rPr sz="4500" b="1">
                <a:solidFill>
                  <a:srgbClr val="171A20"/>
                </a:solidFill>
                <a:latin typeface="Calibri"/>
                <a:ea typeface="Calibri"/>
                <a:cs typeface="Calibri"/>
              </a:rPr>
              <a:t>Персонализированное</a:t>
            </a:r>
          </a:p>
          <a:p xmlns:a="http://schemas.openxmlformats.org/drawingml/2006/main">
            <a:pPr algn="l">
              <a:defRPr sz="4500" b="1">
                <a:solidFill>
                  <a:srgbClr val="171A20"/>
                </a:solidFill>
                <a:latin typeface="Calibri"/>
                <a:ea typeface="Calibri"/>
                <a:cs typeface="Calibri"/>
              </a:defRPr>
            </a:pPr>
            <a:r>
              <a:rPr sz="4500" b="1">
                <a:solidFill>
                  <a:srgbClr val="171A20"/>
                </a:solidFill>
                <a:latin typeface="Calibri"/>
                <a:ea typeface="Calibri"/>
                <a:cs typeface="Calibri"/>
              </a:rPr>
              <a:t>ранжирование</a:t>
            </a:r>
          </a:p>
          <a:p xmlns:a="http://schemas.openxmlformats.org/drawingml/2006/main">
            <a:pPr algn="l">
              <a:defRPr sz="4500" b="1">
                <a:solidFill>
                  <a:srgbClr val="171A20"/>
                </a:solidFill>
                <a:latin typeface="Calibri"/>
                <a:ea typeface="Calibri"/>
                <a:cs typeface="Calibri"/>
              </a:defRPr>
            </a:pPr>
            <a:r>
              <a:rPr sz="4500" b="1">
                <a:solidFill>
                  <a:srgbClr val="171A20"/>
                </a:solidFill>
                <a:latin typeface="Calibri"/>
                <a:ea typeface="Calibri"/>
                <a:cs typeface="Calibri"/>
              </a:rPr>
              <a:t>CrossSell-предложений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72D02-4D48-4597-95BB-3E451B50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A20"/>
                </a:solidFill>
                <a:latin typeface="Calibri"/>
                <a:ea typeface="Calibri"/>
                <a:cs typeface="Calibri"/>
              </a:defRPr>
            </a:pPr>
            <a:r>
              <a:rPr sz="2600" b="1">
                <a:solidFill>
                  <a:srgbClr val="171A20"/>
                </a:solidFill>
                <a:latin typeface="Calibri"/>
                <a:ea typeface="Calibri"/>
                <a:cs typeface="Calibri"/>
              </a:rPr>
              <a:t>Андрей Иванов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145F8-24A1-4835-A24E-691CEF0F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Data Scientist</a:t>
            </a:r>
          </a:p>
        </p:txBody>
      </p:sp>
    </p:spTree>
    <p:extLst>
      <p:ext uri="{BB962C8B-B14F-4D97-AF65-F5344CB8AC3E}">
        <p14:creationId xmlns:p14="http://schemas.microsoft.com/office/powerpoint/2010/main" val="16540790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535F78-AD91-4116-968F-49E86C48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ЗАДАЧА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10B22-140D-4755-BD48-F1778A25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C922E-B62A-49A6-86DF-7B1F38D4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7C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4DAAF-4AFF-4CD9-9ED4-47958311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A2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1A20"/>
                </a:solidFill>
                <a:latin typeface="Calibri"/>
                <a:ea typeface="Calibri"/>
                <a:cs typeface="Calibri"/>
              </a:rPr>
              <a:t>Бизнес-задача: персональная CrossSell-раздача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3CC89C-FDB4-431F-9604-54C02C31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JMLC 2026 | Андрей Иванов</a:t>
            </a:r>
          </a:p>
        </p:txBody>
      </p:sp>
      <p:sp xmlns:a="http://schemas.openxmlformats.org/drawingml/2006/main">
        <p:nvSpPr>
          <p:cNvPr id="23" name="Rounded Rectangle 22"/>
          <p:cNvSpPr/>
          <p:nvPr/>
        </p:nvSpPr>
        <p:spPr>
          <a:xfrm>
            <a:off x="612648" y="1828800"/>
            <a:ext cx="10972800" cy="868680"/>
          </a:xfrm>
          <a:prstGeom prst="roundRect">
            <a:avLst/>
          </a:prstGeom>
          <a:solidFill>
            <a:srgbClr val="A3132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Цель — привлекать и удерживать клиентов в экосистеме: подключить или возобновить продукт при ограниченном бюджете скидок.</a:t>
            </a:r>
          </a:p>
        </p:txBody>
      </p:sp>
      <p:sp xmlns:a="http://schemas.openxmlformats.org/drawingml/2006/main">
        <p:nvSpPr>
          <p:cNvPr id="24" name="Rounded Rectangle 23"/>
          <p:cNvSpPr/>
          <p:nvPr/>
        </p:nvSpPr>
        <p:spPr>
          <a:xfrm>
            <a:off x="612648" y="3154680"/>
            <a:ext cx="5330952" cy="15773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/>
          <a:lstStyle/>
          <a:p>
            <a:pPr algn="l"/>
          </a:p>
        </p:txBody>
      </p:sp>
      <p:sp xmlns:a="http://schemas.openxmlformats.org/drawingml/2006/main">
        <p:nvSpPr>
          <p:cNvPr id="25" name="TextBox 24"/>
          <p:cNvSpPr txBox="1"/>
          <p:nvPr/>
        </p:nvSpPr>
        <p:spPr>
          <a:xfrm>
            <a:off x="841248" y="3319272"/>
            <a:ext cx="4873752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31329"/>
                </a:solidFill>
                <a:latin typeface="Calibri"/>
              </a:rPr>
              <a:t>Что показываем</a:t>
            </a:r>
          </a:p>
        </p:txBody>
      </p:sp>
      <p:sp xmlns:a="http://schemas.openxmlformats.org/drawingml/2006/main">
        <p:nvSpPr>
          <p:cNvPr id="26" name="TextBox 25"/>
          <p:cNvSpPr txBox="1"/>
          <p:nvPr/>
        </p:nvSpPr>
        <p:spPr>
          <a:xfrm>
            <a:off x="841248" y="3721608"/>
            <a:ext cx="4873752" cy="8732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Calibri"/>
              </a:rPr>
              <a:t>Не весь каталог, а несколько допустимых CrossSell-предложений — сервисы, подписки, финансовые и партнёрские категории. Слотов мало, бюджет скидок ограничен.</a:t>
            </a:r>
          </a:p>
        </p:txBody>
      </p:sp>
      <p:sp xmlns:a="http://schemas.openxmlformats.org/drawingml/2006/main">
        <p:nvSpPr>
          <p:cNvPr id="27" name="Rounded Rectangle 26"/>
          <p:cNvSpPr/>
          <p:nvPr/>
        </p:nvSpPr>
        <p:spPr>
          <a:xfrm>
            <a:off x="6245352" y="3154680"/>
            <a:ext cx="5330952" cy="15773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/>
          <a:lstStyle/>
          <a:p>
            <a:pPr algn="l"/>
          </a:p>
        </p:txBody>
      </p:sp>
      <p:sp xmlns:a="http://schemas.openxmlformats.org/drawingml/2006/main">
        <p:nvSpPr>
          <p:cNvPr id="28" name="TextBox 27"/>
          <p:cNvSpPr txBox="1"/>
          <p:nvPr/>
        </p:nvSpPr>
        <p:spPr>
          <a:xfrm>
            <a:off x="6473952" y="3319272"/>
            <a:ext cx="4873752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A79A"/>
                </a:solidFill>
                <a:latin typeface="Calibri"/>
              </a:rPr>
              <a:t>Как выбираем</a:t>
            </a:r>
          </a:p>
        </p:txBody>
      </p:sp>
      <p:sp xmlns:a="http://schemas.openxmlformats.org/drawingml/2006/main">
        <p:nvSpPr>
          <p:cNvPr id="29" name="TextBox 28"/>
          <p:cNvSpPr txBox="1"/>
          <p:nvPr/>
        </p:nvSpPr>
        <p:spPr>
          <a:xfrm>
            <a:off x="6473952" y="3721608"/>
            <a:ext cx="4873752" cy="8732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Calibri"/>
              </a:rPr>
              <a:t>Скорим все пары клиент–продукт (вероятность утилизации и uplift) и берём top-3 по бизнес-правилу — без повторов group_id. Полный пайплайн — на слайде «Инженерия».</a:t>
            </a:r>
          </a:p>
        </p:txBody>
      </p:sp>
    </p:spTree>
    <p:extLst>
      <p:ext uri="{BB962C8B-B14F-4D97-AF65-F5344CB8AC3E}">
        <p14:creationId xmlns:p14="http://schemas.microsoft.com/office/powerpoint/2010/main" val="20238015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F31705-81E3-4F8E-88C4-A7A0A47C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ИДЕЯ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CB34B-5535-410C-BE90-DC5C9105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24C52-A41A-4575-ACEB-E8A4E809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7C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81708-77B4-4442-A3F6-779DE3BB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A2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1A20"/>
                </a:solidFill>
                <a:latin typeface="Calibri"/>
                <a:ea typeface="Calibri"/>
                <a:cs typeface="Calibri"/>
              </a:rPr>
              <a:t>Почему response-скоринг недостаточен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8D657-F47E-4ACE-955E-DFF393F5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Высокая вероятность утилизации не означает, что показ создал ценность.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32BA7-39C6-4BA7-A3F0-D196DB65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4381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EDF0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68983-CA02-433C-9694-CDC34E56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3132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6E6E76"/>
                </a:solidFill>
                <a:latin typeface="Calibri"/>
                <a:ea typeface="Calibri"/>
                <a:cs typeface="Calibri"/>
              </a:rPr>
              <a:t>Response ranking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38806-FC23-457D-A09C-75F2225F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39624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Сортируем по:</a:t>
            </a:r>
          </a:p>
          <a:p xmlns:a="http://schemas.openxmlformats.org/drawingml/2006/main">
            <a:pPr algn="l">
              <a:defRPr sz="1575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p(utilization) × NPV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Риск: слоты уходят клиентам, которые и так бы утилизировали продукт.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DD83C-8FB7-4AA1-B992-76FF7995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09950"/>
            <a:ext cx="819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1329"/>
          </a:solidFill>
          <a:ln xmlns:a="http://schemas.openxmlformats.org/drawingml/2006/main" w="0">
            <a:solidFill>
              <a:srgbClr val="A3132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DCE43-9E18-4847-9AB0-4F8EEDBE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4381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BF0F2"/>
          </a:solidFill>
          <a:ln xmlns:a="http://schemas.openxmlformats.org/drawingml/2006/main" w="19050">
            <a:solidFill>
              <a:srgbClr val="A3132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3C765-BF18-4B8A-BA74-9AFCEA7F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A79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A31329"/>
                </a:solidFill>
                <a:latin typeface="Calibri"/>
                <a:ea typeface="Calibri"/>
                <a:cs typeface="Calibri"/>
              </a:rPr>
              <a:t>Extra NPV ranking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45895-9205-4B6D-8A60-1883D607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38450"/>
            <a:ext cx="39624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Сортируем по:</a:t>
            </a:r>
          </a:p>
          <a:p xmlns:a="http://schemas.openxmlformats.org/drawingml/2006/main">
            <a:pPr algn="l">
              <a:defRPr sz="1575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NPV × (p₁ - p₀)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Фокус: где показ категории реально меняет поведение клиента.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89952-7644-4898-932D-FDF51B79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JMLC 2026 | Андрей Иванов</a:t>
            </a:r>
          </a:p>
        </p:txBody>
      </p:sp>
    </p:spTree>
    <p:extLst>
      <p:ext uri="{BB962C8B-B14F-4D97-AF65-F5344CB8AC3E}">
        <p14:creationId xmlns:p14="http://schemas.microsoft.com/office/powerpoint/2010/main" val="18637352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44DB96-441D-48CA-8C4E-FBC0D2D6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ДАННЫЕ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324EB-F7AF-48C3-9536-B0E2002F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1E5F1-0B93-4822-A9DD-77432326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7C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7DCD4-C3FE-4891-97E2-6FFC1F9C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A2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1A20"/>
                </a:solidFill>
                <a:latin typeface="Calibri"/>
                <a:ea typeface="Calibri"/>
                <a:cs typeface="Calibri"/>
              </a:rPr>
              <a:t>Данные и временные срезы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B50A8-18EC-4403-81F3-D96E1C3C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4572000" cy="1562862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7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7E870-DDE5-404B-810C-77321CFE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232410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82F6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B82F6"/>
                </a:solidFill>
                <a:latin typeface="Calibri"/>
                <a:ea typeface="Calibri"/>
                <a:cs typeface="Calibri"/>
              </a:rPr>
              <a:t>Табличная витрина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7B76A-3F5A-4885-B1B5-A05577CF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2705100"/>
            <a:ext cx="41148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строка клиент-продукт-период</a:t>
            </a:r>
          </a:p>
          <a:p xmlns:a="http://schemas.openxmlformats.org/drawingml/2006/main">
            <a:pPr algn="l">
              <a:defRPr sz="135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агрегаты, доступность, NPV</a:t>
            </a:r>
          </a:p>
          <a:p xmlns:a="http://schemas.openxmlformats.org/drawingml/2006/main">
            <a:pPr algn="l">
              <a:defRPr sz="135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история взаимодействий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D5844-6507-4EDC-972B-CD1467B6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2152650"/>
            <a:ext cx="4572000" cy="1562862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7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8A55B-170C-4CC9-B98C-FBD97B93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232410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A79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2A79A"/>
                </a:solidFill>
                <a:latin typeface="Calibri"/>
                <a:ea typeface="Calibri"/>
                <a:cs typeface="Calibri"/>
              </a:rPr>
              <a:t>Исторические события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05A60-599E-4C08-89FD-FA5EF455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2705100"/>
            <a:ext cx="41148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клики, транзакции, действия</a:t>
            </a:r>
          </a:p>
          <a:p xmlns:a="http://schemas.openxmlformats.org/drawingml/2006/main">
            <a:pPr algn="l">
              <a:defRPr sz="135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показы и активации</a:t>
            </a:r>
          </a:p>
          <a:p xmlns:a="http://schemas.openxmlformats.org/drawingml/2006/main">
            <a:pPr algn="l">
              <a:defRPr sz="135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открытия/закрытия продуктов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FE46EF-26D6-4D72-816D-C21ECD46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2455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A2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1A20"/>
                </a:solidFill>
                <a:latin typeface="Calibri"/>
                <a:ea typeface="Calibri"/>
                <a:cs typeface="Calibri"/>
              </a:rPr>
              <a:t>Главная проверка: в последовательностях нет будущих событий относительно даты подготовки раздачи.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F7C2F3-CD58-496D-8166-09438461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JMLC 2026 | Андрей Иванов</a:t>
            </a:r>
          </a:p>
        </p:txBody>
      </p:sp>
      <p:sp xmlns:a="http://schemas.openxmlformats.org/drawingml/2006/main">
        <p:nvSpPr>
          <p:cNvPr id="26" name="TextBox 25"/>
          <p:cNvSpPr txBox="1"/>
          <p:nvPr/>
        </p:nvSpPr>
        <p:spPr>
          <a:xfrm>
            <a:off x="612648" y="41148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E6E76"/>
                </a:solidFill>
                <a:latin typeface="Calibri"/>
              </a:rPr>
              <a:t>Обучение, валидация и тест разделены по времени, а не случайным перемешиванием.</a:t>
            </a:r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1463040" y="4663440"/>
            <a:ext cx="3657600" cy="457200"/>
          </a:xfrm>
          <a:prstGeom prst="rect">
            <a:avLst/>
          </a:prstGeom>
          <a:solidFill>
            <a:srgbClr val="7E94A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5120640" y="4663440"/>
            <a:ext cx="1143000" cy="457200"/>
          </a:xfrm>
          <a:prstGeom prst="rect">
            <a:avLst/>
          </a:prstGeom>
          <a:solidFill>
            <a:srgbClr val="12A79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val</a:t>
            </a:r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6263640" y="4663440"/>
            <a:ext cx="1143000" cy="457200"/>
          </a:xfrm>
          <a:prstGeom prst="rect">
            <a:avLst/>
          </a:prstGeom>
          <a:solidFill>
            <a:srgbClr val="D4A84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A3A3A"/>
                </a:solidFill>
                <a:latin typeface="Calibri"/>
              </a:rPr>
              <a:t>test</a:t>
            </a:r>
          </a:p>
        </p:txBody>
      </p:sp>
      <p:sp xmlns:a="http://schemas.openxmlformats.org/drawingml/2006/main">
        <p:nvSpPr>
          <p:cNvPr id="30" name="Right Arrow 29"/>
          <p:cNvSpPr/>
          <p:nvPr/>
        </p:nvSpPr>
        <p:spPr>
          <a:xfrm>
            <a:off x="7589520" y="4754880"/>
            <a:ext cx="502920" cy="274320"/>
          </a:xfrm>
          <a:prstGeom prst="rightArrow">
            <a:avLst/>
          </a:prstGeom>
          <a:solidFill>
            <a:srgbClr val="A3132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31" name="Rounded Rectangle 30"/>
          <p:cNvSpPr/>
          <p:nvPr/>
        </p:nvSpPr>
        <p:spPr>
          <a:xfrm>
            <a:off x="8229600" y="4572000"/>
            <a:ext cx="2926080" cy="640080"/>
          </a:xfrm>
          <a:prstGeom prst="roundRect">
            <a:avLst/>
          </a:prstGeom>
          <a:solidFill>
            <a:srgbClr val="A3132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целевой месяц: раздача</a:t>
            </a:r>
          </a:p>
        </p:txBody>
      </p:sp>
      <p:sp xmlns:a="http://schemas.openxmlformats.org/drawingml/2006/main">
        <p:nvSpPr>
          <p:cNvPr id="32" name="TextBox 31"/>
          <p:cNvSpPr txBox="1"/>
          <p:nvPr/>
        </p:nvSpPr>
        <p:spPr>
          <a:xfrm>
            <a:off x="1463040" y="517550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A3A3A"/>
                </a:solidFill>
                <a:latin typeface="Calibri"/>
              </a:rPr>
              <a:t>история событий для обучения</a:t>
            </a:r>
          </a:p>
        </p:txBody>
      </p:sp>
      <p:sp xmlns:a="http://schemas.openxmlformats.org/drawingml/2006/main">
        <p:nvSpPr>
          <p:cNvPr id="33" name="TextBox 32"/>
          <p:cNvSpPr txBox="1"/>
          <p:nvPr/>
        </p:nvSpPr>
        <p:spPr>
          <a:xfrm>
            <a:off x="7360920" y="5175504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E6E76"/>
                </a:solidFill>
                <a:latin typeface="Calibri"/>
              </a:rPr>
              <a:t>cutoff + лаг</a:t>
            </a:r>
          </a:p>
        </p:txBody>
      </p:sp>
    </p:spTree>
    <p:extLst>
      <p:ext uri="{BB962C8B-B14F-4D97-AF65-F5344CB8AC3E}">
        <p14:creationId xmlns:p14="http://schemas.microsoft.com/office/powerpoint/2010/main" val="1255481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Picture 1" descr="slid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1816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9CE91B-76D0-4E9A-A1AE-B1765E46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UPLIFT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C65DF-6348-4266-A0DC-0FCCF81F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FE7E1-5949-4D67-AE41-69E08601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7C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BFC26-BAF2-425A-9203-F50AD5BF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A2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1A20"/>
                </a:solidFill>
                <a:latin typeface="Calibri"/>
                <a:ea typeface="Calibri"/>
                <a:cs typeface="Calibri"/>
              </a:rPr>
              <a:t>Uplift-моделирование: эффект показа, а не склонность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52F94-6479-4CAF-AF82-9FFD4735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Случайная раздача и S-learner позволяют оценить добавочный эффект показа, отделив его от базовой склонности клиента.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EECD5-3FE0-400F-A3EF-37839FE6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23241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7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7AD02-8667-4709-9EA0-3EA18D14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050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3132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A31329"/>
                </a:solidFill>
                <a:latin typeface="Calibri"/>
                <a:ea typeface="Calibri"/>
                <a:cs typeface="Calibri"/>
              </a:rPr>
              <a:t>Случайная раздача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560D1-BB2B-4704-ACB3-B378A883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часть аудитории получает случайный допустимый набор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335AE-2C8B-44E7-B02F-2F605AE8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2190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7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4AF66-105F-4CA8-B88E-2C829AB9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0507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A79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2A79A"/>
                </a:solidFill>
                <a:latin typeface="Calibri"/>
                <a:ea typeface="Calibri"/>
                <a:cs typeface="Calibri"/>
              </a:rPr>
              <a:t>S-learner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F3767-35C8-492F-AA1B-2FB6218E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86075"/>
            <a:ext cx="1771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признаки пары + флаг показа z</a:t>
            </a:r>
          </a:p>
          <a:p xmlns:a="http://schemas.openxmlformats.org/drawingml/2006/main">
            <a:pPr algn="ctr">
              <a:defRPr sz="1125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таргет — утилизация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C2EBA-032C-4A9A-AB96-83F56289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2133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7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AEDDA-E9C6-48E8-8431-DCE912AB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050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B82F6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B82F6"/>
                </a:solidFill>
                <a:latin typeface="Calibri"/>
                <a:ea typeface="Calibri"/>
                <a:cs typeface="Calibri"/>
              </a:rPr>
              <a:t>Два прогноза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D5EFA-EFE9-45B8-805E-4B39C5D9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860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p₁ при z=1</a:t>
            </a:r>
          </a:p>
          <a:p xmlns:a="http://schemas.openxmlformats.org/drawingml/2006/main">
            <a:pPr algn="ctr">
              <a:defRPr sz="1125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p₀ при z=0</a:t>
            </a:r>
          </a:p>
          <a:p xmlns:a="http://schemas.openxmlformats.org/drawingml/2006/main">
            <a:pPr algn="ctr">
              <a:defRPr sz="1125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uplift = p₁ - p₀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E8DB6-C5E3-419D-B6FC-FAA9E815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33625"/>
            <a:ext cx="2095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7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D6276-38EE-41DD-9D02-104CAD4B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050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4A842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D4A842"/>
                </a:solidFill>
                <a:latin typeface="Calibri"/>
                <a:ea typeface="Calibri"/>
                <a:cs typeface="Calibri"/>
              </a:rPr>
              <a:t>Раздача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FB966-10BA-431B-A72F-FCC8500A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86075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top-3 по extra NPV</a:t>
            </a:r>
          </a:p>
          <a:p xmlns:a="http://schemas.openxmlformats.org/drawingml/2006/main">
            <a:pPr algn="ctr">
              <a:defRPr sz="1125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только доступные</a:t>
            </a:r>
          </a:p>
          <a:p xmlns:a="http://schemas.openxmlformats.org/drawingml/2006/main">
            <a:pPr algn="ctr">
              <a:defRPr sz="1125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без повторов group_id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68C3FE-2B26-44CB-9CE8-3E296022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1465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1329"/>
          </a:solidFill>
          <a:ln xmlns:a="http://schemas.openxmlformats.org/drawingml/2006/main" w="0">
            <a:solidFill>
              <a:srgbClr val="A3132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EC399-4702-4328-A335-FF3BFA67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1465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1329"/>
          </a:solidFill>
          <a:ln xmlns:a="http://schemas.openxmlformats.org/drawingml/2006/main" w="0">
            <a:solidFill>
              <a:srgbClr val="A3132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CC909B-8F0B-4394-B53D-600AC8B8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1465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1329"/>
          </a:solidFill>
          <a:ln xmlns:a="http://schemas.openxmlformats.org/drawingml/2006/main" w="0">
            <a:solidFill>
              <a:srgbClr val="A3132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132330-F2FD-474E-9E9F-F0C04974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33950"/>
            <a:ext cx="960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A2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1A20"/>
                </a:solidFill>
                <a:latin typeface="Calibri"/>
                <a:ea typeface="Calibri"/>
                <a:cs typeface="Calibri"/>
              </a:rPr>
              <a:t>Проверяем, что показ случаен: по признакам до раздачи его не угадать — ROC AUC ≈ 0.5.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78F530-B547-4DF3-AB4C-C9BEDE5A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JMLC 2026 | Андрей Иванов</a:t>
            </a:r>
          </a:p>
        </p:txBody>
      </p:sp>
    </p:spTree>
    <p:extLst>
      <p:ext uri="{BB962C8B-B14F-4D97-AF65-F5344CB8AC3E}">
        <p14:creationId xmlns:p14="http://schemas.microsoft.com/office/powerpoint/2010/main" val="1185713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AA40FE-2E15-49E3-86A4-FA1A3CEF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ОЦЕНКА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A0A8E-B104-4A23-80E7-87C64684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B308F-9CE2-4728-85B9-2D3026F1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7C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2C17E-FBD7-4D07-8C4B-BC89F10B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A2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1A20"/>
                </a:solidFill>
                <a:latin typeface="Calibri"/>
                <a:ea typeface="Calibri"/>
                <a:cs typeface="Calibri"/>
              </a:rPr>
              <a:t>Оцениваем стратегию выбора, а не только модель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2E316-7091-4E43-814E-F22093F7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Нас интересует ценность итоговой раздачи top-3, а не только AUC классификатора.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5A1A9-D9CA-41EB-BFB0-CFD89D36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952750" cy="1418844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7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763E1-CC04-42F6-94EB-C1FCFF10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7CBC5-2FD0-40DD-BC74-17D85708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3132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A31329"/>
                </a:solidFill>
                <a:latin typeface="Calibri"/>
                <a:ea typeface="Calibri"/>
                <a:cs typeface="Calibri"/>
              </a:rPr>
              <a:t>IPS / SNIPS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5BA65-6B9F-4B80-B1FB-E3A83512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622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2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1A20"/>
                </a:solidFill>
                <a:latin typeface="Calibri"/>
                <a:ea typeface="Calibri"/>
                <a:cs typeface="Calibri"/>
              </a:rPr>
              <a:t>оценка по randomized logs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6BE6A-F05A-4336-B881-F392B8F3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поправка на вероятность назначения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E2F83-FD6E-4D85-A9C1-5721DA46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1418844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7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B88D2-DD01-4048-97B1-FC6413F0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55270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BF4CE-32DE-46D9-B975-47C26B4E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53365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A79A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2A79A"/>
                </a:solidFill>
                <a:latin typeface="Calibri"/>
                <a:ea typeface="Calibri"/>
                <a:cs typeface="Calibri"/>
              </a:rPr>
              <a:t>ESS + bootstrap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D7637-5CE4-49D8-AEA7-2392DEAB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622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2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1A20"/>
                </a:solidFill>
                <a:latin typeface="Calibri"/>
                <a:ea typeface="Calibri"/>
                <a:cs typeface="Calibri"/>
              </a:rPr>
              <a:t>надежность оценки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FCB360-F94D-4D78-AD20-A2A8AAFC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219450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overlap и доверительные интервалы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3103F-6BA5-4520-9939-66279726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952750" cy="1418844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7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D6DF03-1246-4610-8401-7D6F6925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EA0AFC-5757-4E9B-B27A-1109E5B3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3365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4A842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D4A842"/>
                </a:solidFill>
                <a:latin typeface="Calibri"/>
                <a:ea typeface="Calibri"/>
                <a:cs typeface="Calibri"/>
              </a:rPr>
              <a:t>истинный эффект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44704-1A98-4045-86C6-A1D771F9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622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2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1A20"/>
                </a:solidFill>
                <a:latin typeface="Calibri"/>
                <a:ea typeface="Calibri"/>
                <a:cs typeface="Calibri"/>
              </a:rPr>
              <a:t>только в синтетике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0B86A3-4879-4670-B892-A7889DD5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известны реальные p₁ и p₀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B6A6B6-D213-4AA9-AE73-1E3BDAFA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76775"/>
            <a:ext cx="788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A2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71A20"/>
                </a:solidFill>
                <a:latin typeface="Calibri"/>
                <a:ea typeface="Calibri"/>
                <a:cs typeface="Calibri"/>
              </a:rPr>
              <a:t>Классификатор предсказывает склонность к утилизации. Ценность стратегии меряем по добавочному эффекту (true extra NPV) — наблюдаемая утилизация (SNIPS) для этого вторична.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C5F51F-2338-495B-A57E-5CE2BF8A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JMLC 2026 | Андрей Иванов</a:t>
            </a:r>
          </a:p>
        </p:txBody>
      </p:sp>
    </p:spTree>
    <p:extLst>
      <p:ext uri="{BB962C8B-B14F-4D97-AF65-F5344CB8AC3E}">
        <p14:creationId xmlns:p14="http://schemas.microsoft.com/office/powerpoint/2010/main" val="20134827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175D30-5BF4-4C3D-A8D8-03D04D5C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РЕЗУЛЬТАТЫ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66327-8309-4FE1-B0C0-165B887B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0EA5E-9D2D-4BAB-A9DF-03A39854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7C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AF257-FBF2-4628-B4BC-80A50084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A2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1A20"/>
                </a:solidFill>
                <a:latin typeface="Calibri"/>
                <a:ea typeface="Calibri"/>
                <a:cs typeface="Calibri"/>
              </a:rPr>
              <a:t>Результаты: transformer — лучший среди моделей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E2FE7-148F-4454-8E9C-456DA561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Главная метрика — true extra NPV: в синтетике она показывает истинный инкремент от показа.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F1BFC3-C5FD-4625-8201-90D8E2E1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6700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7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1CA015-F2FB-4A8B-8A51-5628E5B0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384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A842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D4A842"/>
                </a:solidFill>
                <a:latin typeface="Calibri"/>
                <a:ea typeface="Calibri"/>
                <a:cs typeface="Calibri"/>
              </a:rPr>
              <a:t>Что такое потолок?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C2CD2F-ED20-415C-9E88-6B9DA276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219450"/>
            <a:ext cx="1962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Недоступная в реальности стратегия, которая в синтетике знает истинные p₀ и p₁. Нужна как верхняя граница качества.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E00E0A-73AB-4C8E-B620-B5DFE54A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JMLC 2026 | Андрей Иванов</a:t>
            </a:r>
          </a:p>
        </p:txBody>
      </p:sp>
      <p:sp xmlns:a="http://schemas.openxmlformats.org/drawingml/2006/main">
        <p:nvSpPr>
          <p:cNvPr id="37" name="Rounded Rectangle 36"/>
          <p:cNvSpPr/>
          <p:nvPr/>
        </p:nvSpPr>
        <p:spPr>
          <a:xfrm>
            <a:off x="2731312" y="2258568"/>
            <a:ext cx="5333695" cy="209397"/>
          </a:xfrm>
          <a:prstGeom prst="roundRect">
            <a:avLst/>
          </a:prstGeom>
          <a:solidFill>
            <a:srgbClr val="ECE8E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ounded Rectangle 37"/>
          <p:cNvSpPr/>
          <p:nvPr/>
        </p:nvSpPr>
        <p:spPr>
          <a:xfrm>
            <a:off x="2731312" y="2258568"/>
            <a:ext cx="5332780" cy="209397"/>
          </a:xfrm>
          <a:prstGeom prst="roundRect">
            <a:avLst/>
          </a:prstGeom>
          <a:solidFill>
            <a:srgbClr val="D4A84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TextBox 38"/>
          <p:cNvSpPr txBox="1"/>
          <p:nvPr/>
        </p:nvSpPr>
        <p:spPr>
          <a:xfrm>
            <a:off x="445312" y="2240280"/>
            <a:ext cx="2095804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2A2C"/>
                </a:solidFill>
                <a:latin typeface="Calibri"/>
              </a:rPr>
              <a:t>синт. потолок</a:t>
            </a:r>
          </a:p>
        </p:txBody>
      </p:sp>
      <p:sp xmlns:a="http://schemas.openxmlformats.org/drawingml/2006/main">
        <p:nvSpPr>
          <p:cNvPr id="40" name="TextBox 39"/>
          <p:cNvSpPr txBox="1"/>
          <p:nvPr/>
        </p:nvSpPr>
        <p:spPr>
          <a:xfrm>
            <a:off x="8161020" y="223113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E2A2C"/>
                </a:solidFill>
                <a:latin typeface="Calibri"/>
              </a:rPr>
              <a:t>45.0</a:t>
            </a:r>
          </a:p>
        </p:txBody>
      </p:sp>
      <p:sp xmlns:a="http://schemas.openxmlformats.org/drawingml/2006/main">
        <p:nvSpPr>
          <p:cNvPr id="41" name="Rounded Rectangle 40"/>
          <p:cNvSpPr/>
          <p:nvPr/>
        </p:nvSpPr>
        <p:spPr>
          <a:xfrm>
            <a:off x="2731312" y="2670048"/>
            <a:ext cx="5333695" cy="209397"/>
          </a:xfrm>
          <a:prstGeom prst="roundRect">
            <a:avLst/>
          </a:prstGeom>
          <a:solidFill>
            <a:srgbClr val="ECE8E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2" name="Rounded Rectangle 41"/>
          <p:cNvSpPr/>
          <p:nvPr/>
        </p:nvSpPr>
        <p:spPr>
          <a:xfrm>
            <a:off x="2731312" y="2670048"/>
            <a:ext cx="4621743" cy="209397"/>
          </a:xfrm>
          <a:prstGeom prst="roundRect">
            <a:avLst/>
          </a:prstGeom>
          <a:solidFill>
            <a:srgbClr val="A3132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3" name="TextBox 42"/>
          <p:cNvSpPr txBox="1"/>
          <p:nvPr/>
        </p:nvSpPr>
        <p:spPr>
          <a:xfrm>
            <a:off x="445312" y="2651760"/>
            <a:ext cx="2095804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2A2C"/>
                </a:solidFill>
                <a:latin typeface="Calibri"/>
              </a:rPr>
              <a:t>extra NPV transformer</a:t>
            </a:r>
          </a:p>
        </p:txBody>
      </p:sp>
      <p:sp xmlns:a="http://schemas.openxmlformats.org/drawingml/2006/main">
        <p:nvSpPr>
          <p:cNvPr id="44" name="TextBox 43"/>
          <p:cNvSpPr txBox="1"/>
          <p:nvPr/>
        </p:nvSpPr>
        <p:spPr>
          <a:xfrm>
            <a:off x="8161020" y="264261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E2A2C"/>
                </a:solidFill>
                <a:latin typeface="Calibri"/>
              </a:rPr>
              <a:t>39.0</a:t>
            </a:r>
          </a:p>
        </p:txBody>
      </p:sp>
      <p:sp xmlns:a="http://schemas.openxmlformats.org/drawingml/2006/main">
        <p:nvSpPr>
          <p:cNvPr id="45" name="Rounded Rectangle 44"/>
          <p:cNvSpPr/>
          <p:nvPr/>
        </p:nvSpPr>
        <p:spPr>
          <a:xfrm>
            <a:off x="2731312" y="3081528"/>
            <a:ext cx="5333695" cy="209397"/>
          </a:xfrm>
          <a:prstGeom prst="roundRect">
            <a:avLst/>
          </a:prstGeom>
          <a:solidFill>
            <a:srgbClr val="ECE8E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Rounded Rectangle 45"/>
          <p:cNvSpPr/>
          <p:nvPr/>
        </p:nvSpPr>
        <p:spPr>
          <a:xfrm>
            <a:off x="2731312" y="3081528"/>
            <a:ext cx="4598042" cy="209397"/>
          </a:xfrm>
          <a:prstGeom prst="roundRect">
            <a:avLst/>
          </a:prstGeom>
          <a:solidFill>
            <a:srgbClr val="3B82F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TextBox 46"/>
          <p:cNvSpPr txBox="1"/>
          <p:nvPr/>
        </p:nvSpPr>
        <p:spPr>
          <a:xfrm>
            <a:off x="445312" y="3063240"/>
            <a:ext cx="2095804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2A2C"/>
                </a:solidFill>
                <a:latin typeface="Calibri"/>
              </a:rPr>
              <a:t>response transformer</a:t>
            </a:r>
          </a:p>
        </p:txBody>
      </p:sp>
      <p:sp xmlns:a="http://schemas.openxmlformats.org/drawingml/2006/main">
        <p:nvSpPr>
          <p:cNvPr id="48" name="TextBox 47"/>
          <p:cNvSpPr txBox="1"/>
          <p:nvPr/>
        </p:nvSpPr>
        <p:spPr>
          <a:xfrm>
            <a:off x="8161020" y="305409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E2A2C"/>
                </a:solidFill>
                <a:latin typeface="Calibri"/>
              </a:rPr>
              <a:t>38.8</a:t>
            </a:r>
          </a:p>
        </p:txBody>
      </p:sp>
      <p:sp xmlns:a="http://schemas.openxmlformats.org/drawingml/2006/main">
        <p:nvSpPr>
          <p:cNvPr id="49" name="Rounded Rectangle 48"/>
          <p:cNvSpPr/>
          <p:nvPr/>
        </p:nvSpPr>
        <p:spPr>
          <a:xfrm>
            <a:off x="2731312" y="3493008"/>
            <a:ext cx="5333695" cy="209397"/>
          </a:xfrm>
          <a:prstGeom prst="roundRect">
            <a:avLst/>
          </a:prstGeom>
          <a:solidFill>
            <a:srgbClr val="ECE8E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0" name="Rounded Rectangle 49"/>
          <p:cNvSpPr/>
          <p:nvPr/>
        </p:nvSpPr>
        <p:spPr>
          <a:xfrm>
            <a:off x="2731312" y="3493008"/>
            <a:ext cx="4574340" cy="209397"/>
          </a:xfrm>
          <a:prstGeom prst="roundRect">
            <a:avLst/>
          </a:prstGeom>
          <a:solidFill>
            <a:srgbClr val="12A79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1" name="TextBox 50"/>
          <p:cNvSpPr txBox="1"/>
          <p:nvPr/>
        </p:nvSpPr>
        <p:spPr>
          <a:xfrm>
            <a:off x="445312" y="3474720"/>
            <a:ext cx="2095804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2A2C"/>
                </a:solidFill>
                <a:latin typeface="Calibri"/>
              </a:rPr>
              <a:t>extra NPV stacked</a:t>
            </a:r>
          </a:p>
        </p:txBody>
      </p:sp>
      <p:sp xmlns:a="http://schemas.openxmlformats.org/drawingml/2006/main">
        <p:nvSpPr>
          <p:cNvPr id="52" name="TextBox 51"/>
          <p:cNvSpPr txBox="1"/>
          <p:nvPr/>
        </p:nvSpPr>
        <p:spPr>
          <a:xfrm>
            <a:off x="8161020" y="346557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E2A2C"/>
                </a:solidFill>
                <a:latin typeface="Calibri"/>
              </a:rPr>
              <a:t>38.6</a:t>
            </a:r>
          </a:p>
        </p:txBody>
      </p:sp>
      <p:sp xmlns:a="http://schemas.openxmlformats.org/drawingml/2006/main">
        <p:nvSpPr>
          <p:cNvPr id="53" name="Rounded Rectangle 52"/>
          <p:cNvSpPr/>
          <p:nvPr/>
        </p:nvSpPr>
        <p:spPr>
          <a:xfrm>
            <a:off x="2731312" y="3904487"/>
            <a:ext cx="5333695" cy="209397"/>
          </a:xfrm>
          <a:prstGeom prst="roundRect">
            <a:avLst/>
          </a:prstGeom>
          <a:solidFill>
            <a:srgbClr val="ECE8E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4" name="Rounded Rectangle 53"/>
          <p:cNvSpPr/>
          <p:nvPr/>
        </p:nvSpPr>
        <p:spPr>
          <a:xfrm>
            <a:off x="2731312" y="3904487"/>
            <a:ext cx="4420282" cy="209397"/>
          </a:xfrm>
          <a:prstGeom prst="roundRect">
            <a:avLst/>
          </a:prstGeom>
          <a:solidFill>
            <a:srgbClr val="3B82F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5" name="TextBox 54"/>
          <p:cNvSpPr txBox="1"/>
          <p:nvPr/>
        </p:nvSpPr>
        <p:spPr>
          <a:xfrm>
            <a:off x="445312" y="3886200"/>
            <a:ext cx="2095804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2A2C"/>
                </a:solidFill>
                <a:latin typeface="Calibri"/>
              </a:rPr>
              <a:t>response boosting</a:t>
            </a:r>
          </a:p>
        </p:txBody>
      </p:sp>
      <p:sp xmlns:a="http://schemas.openxmlformats.org/drawingml/2006/main">
        <p:nvSpPr>
          <p:cNvPr id="56" name="TextBox 55"/>
          <p:cNvSpPr txBox="1"/>
          <p:nvPr/>
        </p:nvSpPr>
        <p:spPr>
          <a:xfrm>
            <a:off x="8161020" y="38770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E2A2C"/>
                </a:solidFill>
                <a:latin typeface="Calibri"/>
              </a:rPr>
              <a:t>37.3</a:t>
            </a:r>
          </a:p>
        </p:txBody>
      </p:sp>
      <p:sp xmlns:a="http://schemas.openxmlformats.org/drawingml/2006/main">
        <p:nvSpPr>
          <p:cNvPr id="57" name="Rounded Rectangle 56"/>
          <p:cNvSpPr/>
          <p:nvPr/>
        </p:nvSpPr>
        <p:spPr>
          <a:xfrm>
            <a:off x="2731312" y="4315968"/>
            <a:ext cx="5333695" cy="209397"/>
          </a:xfrm>
          <a:prstGeom prst="roundRect">
            <a:avLst/>
          </a:prstGeom>
          <a:solidFill>
            <a:srgbClr val="ECE8E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8" name="Rounded Rectangle 57"/>
          <p:cNvSpPr/>
          <p:nvPr/>
        </p:nvSpPr>
        <p:spPr>
          <a:xfrm>
            <a:off x="2731312" y="4315968"/>
            <a:ext cx="4372880" cy="209397"/>
          </a:xfrm>
          <a:prstGeom prst="roundRect">
            <a:avLst/>
          </a:prstGeom>
          <a:solidFill>
            <a:srgbClr val="6F8FD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9" name="TextBox 58"/>
          <p:cNvSpPr txBox="1"/>
          <p:nvPr/>
        </p:nvSpPr>
        <p:spPr>
          <a:xfrm>
            <a:off x="445312" y="4297680"/>
            <a:ext cx="2095804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2A2C"/>
                </a:solidFill>
                <a:latin typeface="Calibri"/>
              </a:rPr>
              <a:t>extra NPV boosting</a:t>
            </a:r>
          </a:p>
        </p:txBody>
      </p:sp>
      <p:sp xmlns:a="http://schemas.openxmlformats.org/drawingml/2006/main">
        <p:nvSpPr>
          <p:cNvPr id="60" name="TextBox 59"/>
          <p:cNvSpPr txBox="1"/>
          <p:nvPr/>
        </p:nvSpPr>
        <p:spPr>
          <a:xfrm>
            <a:off x="8161020" y="428853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E2A2C"/>
                </a:solidFill>
                <a:latin typeface="Calibri"/>
              </a:rPr>
              <a:t>36.9</a:t>
            </a:r>
          </a:p>
        </p:txBody>
      </p:sp>
      <p:sp xmlns:a="http://schemas.openxmlformats.org/drawingml/2006/main">
        <p:nvSpPr>
          <p:cNvPr id="61" name="Rounded Rectangle 60"/>
          <p:cNvSpPr/>
          <p:nvPr/>
        </p:nvSpPr>
        <p:spPr>
          <a:xfrm>
            <a:off x="2731312" y="4727448"/>
            <a:ext cx="5333695" cy="209397"/>
          </a:xfrm>
          <a:prstGeom prst="roundRect">
            <a:avLst/>
          </a:prstGeom>
          <a:solidFill>
            <a:srgbClr val="ECE8E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2" name="Rounded Rectangle 61"/>
          <p:cNvSpPr/>
          <p:nvPr/>
        </p:nvSpPr>
        <p:spPr>
          <a:xfrm>
            <a:off x="2731312" y="4727448"/>
            <a:ext cx="2820448" cy="209397"/>
          </a:xfrm>
          <a:prstGeom prst="roundRect">
            <a:avLst/>
          </a:prstGeom>
          <a:solidFill>
            <a:srgbClr val="68708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3" name="TextBox 62"/>
          <p:cNvSpPr txBox="1"/>
          <p:nvPr/>
        </p:nvSpPr>
        <p:spPr>
          <a:xfrm>
            <a:off x="445312" y="4709160"/>
            <a:ext cx="2095804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2A2C"/>
                </a:solidFill>
                <a:latin typeface="Calibri"/>
              </a:rPr>
              <a:t>random</a:t>
            </a:r>
          </a:p>
        </p:txBody>
      </p:sp>
      <p:sp xmlns:a="http://schemas.openxmlformats.org/drawingml/2006/main">
        <p:nvSpPr>
          <p:cNvPr id="64" name="TextBox 63"/>
          <p:cNvSpPr txBox="1"/>
          <p:nvPr/>
        </p:nvSpPr>
        <p:spPr>
          <a:xfrm>
            <a:off x="8161020" y="470001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E2A2C"/>
                </a:solidFill>
                <a:latin typeface="Calibri"/>
              </a:rPr>
              <a:t>23.8</a:t>
            </a:r>
          </a:p>
        </p:txBody>
      </p:sp>
    </p:spTree>
    <p:extLst>
      <p:ext uri="{BB962C8B-B14F-4D97-AF65-F5344CB8AC3E}">
        <p14:creationId xmlns:p14="http://schemas.microsoft.com/office/powerpoint/2010/main" val="18025389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2847B7-461D-4033-8782-4066DC72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ИНЖЕНЕРИЯ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BCA3B-3EFC-4DA1-8361-1D23C378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2EF5C-6916-4613-BAFF-E40BC2C3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7C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F5519-CF08-4E33-988C-B4EF50EE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A2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1A20"/>
                </a:solidFill>
                <a:latin typeface="Calibri"/>
                <a:ea typeface="Calibri"/>
                <a:cs typeface="Calibri"/>
              </a:rPr>
              <a:t>ML-пайплайн: от данных до итоговой раздачи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6A0FF2-5067-492F-8BC5-F11CB959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JMLC 2026 | Андрей Иванов</a:t>
            </a:r>
          </a:p>
        </p:txBody>
      </p:sp>
      <p:sp xmlns:a="http://schemas.openxmlformats.org/drawingml/2006/main">
        <p:nvSpPr>
          <p:cNvPr id="40" name="Rounded Rectangle 39"/>
          <p:cNvSpPr/>
          <p:nvPr/>
        </p:nvSpPr>
        <p:spPr>
          <a:xfrm>
            <a:off x="365760" y="3154680"/>
            <a:ext cx="2011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A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>
                <a:solidFill>
                  <a:srgbClr val="A31329"/>
                </a:solidFill>
                <a:latin typeface="Calibri"/>
              </a:rPr>
              <a:t>Input</a:t>
            </a:r>
          </a:p>
          <a:p>
            <a:pPr algn="ctr"/>
            <a:r>
              <a:rPr sz="1000" b="0">
                <a:solidFill>
                  <a:srgbClr val="3A3A3A"/>
                </a:solidFill>
                <a:latin typeface="Calibri"/>
              </a:rPr>
              <a:t>табличные данные</a:t>
            </a:r>
          </a:p>
          <a:p>
            <a:pPr algn="ctr"/>
            <a:r>
              <a:rPr sz="1000" b="0">
                <a:solidFill>
                  <a:srgbClr val="3A3A3A"/>
                </a:solidFill>
                <a:latin typeface="Calibri"/>
              </a:rPr>
              <a:t>история событий</a:t>
            </a:r>
          </a:p>
        </p:txBody>
      </p:sp>
      <p:sp xmlns:a="http://schemas.openxmlformats.org/drawingml/2006/main">
        <p:nvSpPr>
          <p:cNvPr id="41" name="Rounded Rectangle 40"/>
          <p:cNvSpPr/>
          <p:nvPr/>
        </p:nvSpPr>
        <p:spPr>
          <a:xfrm>
            <a:off x="2651760" y="2834640"/>
            <a:ext cx="7223760" cy="1737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2A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 xmlns:a="http://schemas.openxmlformats.org/drawingml/2006/main">
        <p:nvSpPr>
          <p:cNvPr id="42" name="TextBox 41"/>
          <p:cNvSpPr txBox="1"/>
          <p:nvPr/>
        </p:nvSpPr>
        <p:spPr>
          <a:xfrm>
            <a:off x="2651760" y="2926080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2A79A"/>
                </a:solidFill>
                <a:latin typeface="Calibri"/>
              </a:rPr>
              <a:t>Airflow — регулярная сборка</a:t>
            </a:r>
          </a:p>
        </p:txBody>
      </p:sp>
      <p:sp xmlns:a="http://schemas.openxmlformats.org/drawingml/2006/main">
        <p:nvSpPr>
          <p:cNvPr id="43" name="Rounded Rectangle 42"/>
          <p:cNvSpPr/>
          <p:nvPr/>
        </p:nvSpPr>
        <p:spPr>
          <a:xfrm>
            <a:off x="2834640" y="3456432"/>
            <a:ext cx="20116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>
                <a:solidFill>
                  <a:srgbClr val="12A79A"/>
                </a:solidFill>
                <a:latin typeface="Calibri"/>
              </a:rPr>
              <a:t>Сбор данных</a:t>
            </a:r>
          </a:p>
          <a:p>
            <a:pPr algn="ctr"/>
            <a:r>
              <a:rPr sz="900" b="0">
                <a:solidFill>
                  <a:srgbClr val="6E6E76"/>
                </a:solidFill>
                <a:latin typeface="Calibri"/>
              </a:rPr>
              <a:t>cutoff и срезы</a:t>
            </a:r>
          </a:p>
        </p:txBody>
      </p:sp>
      <p:sp xmlns:a="http://schemas.openxmlformats.org/drawingml/2006/main">
        <p:nvSpPr>
          <p:cNvPr id="44" name="Rounded Rectangle 43"/>
          <p:cNvSpPr/>
          <p:nvPr/>
        </p:nvSpPr>
        <p:spPr>
          <a:xfrm>
            <a:off x="5029200" y="3456432"/>
            <a:ext cx="21488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>
                <a:solidFill>
                  <a:srgbClr val="12A79A"/>
                </a:solidFill>
                <a:latin typeface="Calibri"/>
              </a:rPr>
              <a:t>Скоринг всех пар</a:t>
            </a:r>
          </a:p>
          <a:p>
            <a:pPr algn="ctr"/>
            <a:r>
              <a:rPr sz="900" b="0">
                <a:solidFill>
                  <a:srgbClr val="6E6E76"/>
                </a:solidFill>
                <a:latin typeface="Calibri"/>
              </a:rPr>
              <a:t>boosting / transformer / stacking</a:t>
            </a:r>
          </a:p>
        </p:txBody>
      </p:sp>
      <p:sp xmlns:a="http://schemas.openxmlformats.org/drawingml/2006/main">
        <p:nvSpPr>
          <p:cNvPr id="45" name="Rounded Rectangle 44"/>
          <p:cNvSpPr/>
          <p:nvPr/>
        </p:nvSpPr>
        <p:spPr>
          <a:xfrm>
            <a:off x="7360920" y="3456432"/>
            <a:ext cx="22860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>
                <a:solidFill>
                  <a:srgbClr val="12A79A"/>
                </a:solidFill>
                <a:latin typeface="Calibri"/>
              </a:rPr>
              <a:t>Выбор top-3</a:t>
            </a:r>
          </a:p>
          <a:p>
            <a:pPr algn="ctr"/>
            <a:r>
              <a:rPr sz="900" b="0">
                <a:solidFill>
                  <a:srgbClr val="6E6E76"/>
                </a:solidFill>
                <a:latin typeface="Calibri"/>
              </a:rPr>
              <a:t>score·NPV или extra NPV</a:t>
            </a:r>
          </a:p>
          <a:p>
            <a:pPr algn="ctr"/>
            <a:r>
              <a:rPr sz="900" b="0">
                <a:solidFill>
                  <a:srgbClr val="6E6E76"/>
                </a:solidFill>
                <a:latin typeface="Calibri"/>
              </a:rPr>
              <a:t>без повторов group_id</a:t>
            </a:r>
          </a:p>
        </p:txBody>
      </p:sp>
      <p:sp xmlns:a="http://schemas.openxmlformats.org/drawingml/2006/main">
        <p:nvSpPr>
          <p:cNvPr id="46" name="Right Arrow 45"/>
          <p:cNvSpPr/>
          <p:nvPr/>
        </p:nvSpPr>
        <p:spPr>
          <a:xfrm>
            <a:off x="4846320" y="3749039"/>
            <a:ext cx="347472" cy="182880"/>
          </a:xfrm>
          <a:prstGeom prst="rightArrow">
            <a:avLst/>
          </a:prstGeom>
          <a:solidFill>
            <a:srgbClr val="12A79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Right Arrow 46"/>
          <p:cNvSpPr/>
          <p:nvPr/>
        </p:nvSpPr>
        <p:spPr>
          <a:xfrm>
            <a:off x="7178040" y="3749039"/>
            <a:ext cx="347472" cy="182880"/>
          </a:xfrm>
          <a:prstGeom prst="rightArrow">
            <a:avLst/>
          </a:prstGeom>
          <a:solidFill>
            <a:srgbClr val="12A79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Rounded Rectangle 47"/>
          <p:cNvSpPr/>
          <p:nvPr/>
        </p:nvSpPr>
        <p:spPr>
          <a:xfrm>
            <a:off x="10058400" y="3154680"/>
            <a:ext cx="1828800" cy="1143000"/>
          </a:xfrm>
          <a:prstGeom prst="roundRect">
            <a:avLst/>
          </a:prstGeom>
          <a:solidFill>
            <a:srgbClr val="3A4A55"/>
          </a:solidFill>
          <a:ln w="12700">
            <a:solidFill>
              <a:srgbClr val="3A4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Output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клиент, слот, продукт,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группа, модель, правило</a:t>
            </a:r>
          </a:p>
        </p:txBody>
      </p:sp>
      <p:sp xmlns:a="http://schemas.openxmlformats.org/drawingml/2006/main">
        <p:nvSpPr>
          <p:cNvPr id="49" name="Right Arrow 48"/>
          <p:cNvSpPr/>
          <p:nvPr/>
        </p:nvSpPr>
        <p:spPr>
          <a:xfrm>
            <a:off x="2304288" y="3630168"/>
            <a:ext cx="347472" cy="201168"/>
          </a:xfrm>
          <a:prstGeom prst="rightArrow">
            <a:avLst/>
          </a:prstGeom>
          <a:solidFill>
            <a:srgbClr val="A3132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0" name="Right Arrow 49"/>
          <p:cNvSpPr/>
          <p:nvPr/>
        </p:nvSpPr>
        <p:spPr>
          <a:xfrm>
            <a:off x="9902952" y="3630168"/>
            <a:ext cx="347472" cy="201168"/>
          </a:xfrm>
          <a:prstGeom prst="rightArrow">
            <a:avLst/>
          </a:prstGeom>
          <a:solidFill>
            <a:srgbClr val="A3132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1" name="Rounded Rectangle 50"/>
          <p:cNvSpPr/>
          <p:nvPr/>
        </p:nvSpPr>
        <p:spPr>
          <a:xfrm>
            <a:off x="2743200" y="1627632"/>
            <a:ext cx="2468880" cy="11612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>
                <a:solidFill>
                  <a:srgbClr val="3B82F6"/>
                </a:solidFill>
                <a:latin typeface="Calibri"/>
              </a:rPr>
              <a:t>GitLab</a:t>
            </a:r>
          </a:p>
          <a:p>
            <a:pPr algn="ctr"/>
            <a:r>
              <a:rPr sz="900" b="0">
                <a:solidFill>
                  <a:srgbClr val="6E6E76"/>
                </a:solidFill>
                <a:latin typeface="Calibri"/>
              </a:rPr>
              <a:t>код: данные, модели,</a:t>
            </a:r>
          </a:p>
          <a:p>
            <a:pPr algn="ctr"/>
            <a:r>
              <a:rPr sz="900" b="0">
                <a:solidFill>
                  <a:srgbClr val="6E6E76"/>
                </a:solidFill>
                <a:latin typeface="Calibri"/>
              </a:rPr>
              <a:t>скоринг, выбор · CI+Docker</a:t>
            </a:r>
          </a:p>
        </p:txBody>
      </p:sp>
      <p:sp xmlns:a="http://schemas.openxmlformats.org/drawingml/2006/main">
        <p:nvSpPr>
          <p:cNvPr id="52" name="Rounded Rectangle 51"/>
          <p:cNvSpPr/>
          <p:nvPr/>
        </p:nvSpPr>
        <p:spPr>
          <a:xfrm>
            <a:off x="7223760" y="1627632"/>
            <a:ext cx="2377440" cy="11612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>
                <a:solidFill>
                  <a:srgbClr val="D4A842"/>
                </a:solidFill>
                <a:latin typeface="Calibri"/>
              </a:rPr>
              <a:t>Преселекты</a:t>
            </a:r>
          </a:p>
          <a:p>
            <a:pPr algn="ctr"/>
            <a:r>
              <a:rPr sz="900" b="0">
                <a:solidFill>
                  <a:srgbClr val="6E6E76"/>
                </a:solidFill>
                <a:latin typeface="Calibri"/>
              </a:rPr>
              <a:t>доступные пары</a:t>
            </a:r>
          </a:p>
          <a:p>
            <a:pPr algn="ctr"/>
            <a:r>
              <a:rPr sz="900" b="0">
                <a:solidFill>
                  <a:srgbClr val="6E6E76"/>
                </a:solidFill>
                <a:latin typeface="Calibri"/>
              </a:rPr>
              <a:t>клиент–продукт</a:t>
            </a:r>
          </a:p>
        </p:txBody>
      </p:sp>
      <p:sp xmlns:a="http://schemas.openxmlformats.org/drawingml/2006/main">
        <p:nvSpPr>
          <p:cNvPr id="53" name="Down Arrow 52"/>
          <p:cNvSpPr/>
          <p:nvPr/>
        </p:nvSpPr>
        <p:spPr>
          <a:xfrm>
            <a:off x="3886200" y="2697480"/>
            <a:ext cx="182880" cy="256032"/>
          </a:xfrm>
          <a:prstGeom prst="downArrow">
            <a:avLst/>
          </a:prstGeom>
          <a:solidFill>
            <a:srgbClr val="3B82F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4" name="Down Arrow 53"/>
          <p:cNvSpPr/>
          <p:nvPr/>
        </p:nvSpPr>
        <p:spPr>
          <a:xfrm>
            <a:off x="8275320" y="2697480"/>
            <a:ext cx="182880" cy="256032"/>
          </a:xfrm>
          <a:prstGeom prst="downArrow">
            <a:avLst/>
          </a:prstGeom>
          <a:solidFill>
            <a:srgbClr val="D4A84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5" name="Rounded Rectangle 54"/>
          <p:cNvSpPr/>
          <p:nvPr/>
        </p:nvSpPr>
        <p:spPr>
          <a:xfrm>
            <a:off x="914400" y="5029200"/>
            <a:ext cx="1033272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2E2A2C"/>
                </a:solidFill>
                <a:latin typeface="Calibri"/>
              </a:rPr>
              <a:t>Airflow по расписанию запускает фиксированный код: собирает данные, скорит все пары клиент–продукт и применяет правила выбора.</a:t>
            </a:r>
          </a:p>
        </p:txBody>
      </p:sp>
    </p:spTree>
    <p:extLst>
      <p:ext uri="{BB962C8B-B14F-4D97-AF65-F5344CB8AC3E}">
        <p14:creationId xmlns:p14="http://schemas.microsoft.com/office/powerpoint/2010/main" val="5214784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A43665-0A84-455C-A4A1-2384545C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B0C9C-1FF2-49D6-8DB6-DF82C9FC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DA2FC-B450-43A0-A861-718B211D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7C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3A6FB-4765-4073-A338-F7738040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A2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1A20"/>
                </a:solidFill>
                <a:latin typeface="Calibri"/>
                <a:ea typeface="Calibri"/>
                <a:cs typeface="Calibri"/>
              </a:rPr>
              <a:t>Применение ИИ в работе и проекте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63DD4-9672-455D-AE78-CA9DB0FD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ИИ не заменяет ML-решения, а ускоряет ревью, аналитику, поиск ошибок и подготовку артефактов.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A6B4C-99C3-4809-99FC-C88A8F04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4762500" cy="1992629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7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66126-D264-418B-82F6-ACBBF26D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3132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A31329"/>
                </a:solidFill>
                <a:latin typeface="Calibri"/>
                <a:ea typeface="Calibri"/>
                <a:cs typeface="Calibri"/>
              </a:rPr>
              <a:t>Навыки для ML-разработки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5595B-51B6-4345-BC15-A49E4600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43434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data workflow — временные срезы, event history, утечки</a:t>
            </a:r>
          </a:p>
          <a:p xmlns:a="http://schemas.openxmlformats.org/drawingml/2006/main">
            <a:pPr algn="l">
              <a:defRPr sz="120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code workflow — notebook, тесты, воспроизводимость</a:t>
            </a:r>
          </a:p>
          <a:p xmlns:a="http://schemas.openxmlformats.org/drawingml/2006/main">
            <a:pPr algn="l">
              <a:defRPr sz="120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model improvement — идеи и диагностики</a:t>
            </a:r>
          </a:p>
          <a:p xmlns:a="http://schemas.openxmlformats.org/drawingml/2006/main">
            <a:pPr algn="l">
              <a:defRPr sz="120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uplift workflow — randomized logs, extra NPV, IPS</a:t>
            </a:r>
          </a:p>
          <a:p xmlns:a="http://schemas.openxmlformats.org/drawingml/2006/main">
            <a:pPr algn="l">
              <a:defRPr sz="120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JMLC council — ML / causal / MLOps / NDA ревью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2EE37-A84E-4686-890F-0682BECB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762500" cy="1992629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7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A4E8E-1376-4979-ABA6-1E9EA8E7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622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A79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2A79A"/>
                </a:solidFill>
                <a:latin typeface="Calibri"/>
                <a:ea typeface="Calibri"/>
                <a:cs typeface="Calibri"/>
              </a:rPr>
              <a:t>ИИ-аналитик в регулярной работе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D14DE-0C62-4FFF-B7C3-97B1D7DA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43200"/>
            <a:ext cx="43434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работает с результатами запусков и ML-дашбордом</a:t>
            </a:r>
          </a:p>
          <a:p xmlns:a="http://schemas.openxmlformats.org/drawingml/2006/main">
            <a:pPr algn="l">
              <a:defRPr sz="120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ищет аномалии и зоны роста</a:t>
            </a:r>
          </a:p>
          <a:p xmlns:a="http://schemas.openxmlformats.org/drawingml/2006/main">
            <a:pPr algn="l">
              <a:defRPr sz="120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готовит SQL-срезы, задачи и отчеты</a:t>
            </a:r>
          </a:p>
          <a:p xmlns:a="http://schemas.openxmlformats.org/drawingml/2006/main">
            <a:pPr algn="l">
              <a:defRPr sz="120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перед действиями спрашивает подтверждение</a:t>
            </a:r>
          </a:p>
          <a:p xmlns:a="http://schemas.openxmlformats.org/drawingml/2006/main">
            <a:pPr algn="l">
              <a:defRPr sz="120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по итогам фиксирует отчет в Confluence/Jira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B50CB-880B-4F68-84BC-9E1F9E63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57800"/>
            <a:ext cx="956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A20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71A20"/>
                </a:solidFill>
                <a:latin typeface="Calibri"/>
                <a:ea typeface="Calibri"/>
                <a:cs typeface="Calibri"/>
              </a:rPr>
              <a:t>Пример: ИИ-ревью прошло репозиторий по 5 линзам и нашло незакрытую overlap-проверку — я её доделал и перепроверил. Готовые ИИ-инструменты встраиваю в рабочий процесс и задаю правила их безопасного применения.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5FD0E-7B77-4148-86F2-E9B9C22A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80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687080"/>
                </a:solidFill>
                <a:latin typeface="Calibri"/>
                <a:ea typeface="Calibri"/>
                <a:cs typeface="Calibri"/>
              </a:rPr>
              <a:t>JMLC 2026 | Андрей Иванов</a:t>
            </a:r>
          </a:p>
        </p:txBody>
      </p:sp>
    </p:spTree>
    <p:extLst>
      <p:ext uri="{BB962C8B-B14F-4D97-AF65-F5344CB8AC3E}">
        <p14:creationId xmlns:p14="http://schemas.microsoft.com/office/powerpoint/2010/main" val="1163300193"/>
      </p:ext>
    </p:extLst>
  </p:cSld>
</p:sld>
</file>

<file path=ppt/slides/slide1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/>
      </p:grpSpPr>
      <p:pic xmlns:r="http://schemas.openxmlformats.org/officeDocument/2006/relationships">
        <p:nvPicPr>
          <p:cNvPr id="2" name="Picture 1" descr="public_slid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val="19353483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Picture 1" descr="slide1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5081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Picture 1" descr="slide1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7417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Picture 1" descr="public_slide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9814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2026-06-30T13:37:22.7650000Z</dcterms:created>
  <dcterms:modified xsi:type="dcterms:W3CDTF">2026-06-30T13:37:22.7650000Z</dcterms:modified>
</coreProperties>
</file>